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79" r:id="rId7"/>
    <p:sldId id="260" r:id="rId8"/>
    <p:sldId id="271" r:id="rId9"/>
    <p:sldId id="261" r:id="rId10"/>
    <p:sldId id="270" r:id="rId11"/>
  </p:sldIdLst>
  <p:sldSz cx="12192000" cy="6858000"/>
  <p:notesSz cx="6797675" cy="9874250"/>
  <p:embeddedFontLst>
    <p:embeddedFont>
      <p:font typeface="Baskerville Old Face" panose="02020602080505020303" pitchFamily="18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H6Mg4MJd+P6x2ZR2wKr+EpkB6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1FF23F-5159-4EF7-9459-074EA359CEDB}">
  <a:tblStyle styleId="{3D1FF23F-5159-4EF7-9459-074EA359CED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eCell>
    <a:sw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404" y="-1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hikaSri Sen" userId="5af0fd2663075374" providerId="LiveId" clId="{73275830-DDF1-4512-BA94-9D9034922733}"/>
    <pc:docChg chg="undo custSel modSld">
      <pc:chgData name="PrithikaSri Sen" userId="5af0fd2663075374" providerId="LiveId" clId="{73275830-DDF1-4512-BA94-9D9034922733}" dt="2026-03-03T15:24:19.424" v="182" actId="113"/>
      <pc:docMkLst>
        <pc:docMk/>
      </pc:docMkLst>
      <pc:sldChg chg="modSp mod">
        <pc:chgData name="PrithikaSri Sen" userId="5af0fd2663075374" providerId="LiveId" clId="{73275830-DDF1-4512-BA94-9D9034922733}" dt="2026-03-03T15:22:05.404" v="168" actId="14100"/>
        <pc:sldMkLst>
          <pc:docMk/>
          <pc:sldMk cId="0" sldId="256"/>
        </pc:sldMkLst>
        <pc:spChg chg="mod">
          <ac:chgData name="PrithikaSri Sen" userId="5af0fd2663075374" providerId="LiveId" clId="{73275830-DDF1-4512-BA94-9D9034922733}" dt="2026-03-03T15:21:52.248" v="166" actId="1076"/>
          <ac:spMkLst>
            <pc:docMk/>
            <pc:sldMk cId="0" sldId="256"/>
            <ac:spMk id="3" creationId="{318F4F8F-3B7B-3CE3-E7B9-F48C7543E625}"/>
          </ac:spMkLst>
        </pc:spChg>
        <pc:spChg chg="mod">
          <ac:chgData name="PrithikaSri Sen" userId="5af0fd2663075374" providerId="LiveId" clId="{73275830-DDF1-4512-BA94-9D9034922733}" dt="2026-03-03T15:21:02.269" v="154" actId="2711"/>
          <ac:spMkLst>
            <pc:docMk/>
            <pc:sldMk cId="0" sldId="256"/>
            <ac:spMk id="6" creationId="{71172DEF-400A-6E2C-7D2F-BC3072A41AA6}"/>
          </ac:spMkLst>
        </pc:spChg>
        <pc:spChg chg="mod">
          <ac:chgData name="PrithikaSri Sen" userId="5af0fd2663075374" providerId="LiveId" clId="{73275830-DDF1-4512-BA94-9D9034922733}" dt="2026-03-03T15:22:00.274" v="167" actId="1076"/>
          <ac:spMkLst>
            <pc:docMk/>
            <pc:sldMk cId="0" sldId="256"/>
            <ac:spMk id="8" creationId="{14F5FCE0-AE48-97E6-09A9-2D485A2DD668}"/>
          </ac:spMkLst>
        </pc:spChg>
        <pc:spChg chg="mod">
          <ac:chgData name="PrithikaSri Sen" userId="5af0fd2663075374" providerId="LiveId" clId="{73275830-DDF1-4512-BA94-9D9034922733}" dt="2026-03-03T15:22:00.274" v="167" actId="1076"/>
          <ac:spMkLst>
            <pc:docMk/>
            <pc:sldMk cId="0" sldId="256"/>
            <ac:spMk id="9" creationId="{B9095491-88EC-396D-AECF-05D950776443}"/>
          </ac:spMkLst>
        </pc:spChg>
        <pc:spChg chg="mod">
          <ac:chgData name="PrithikaSri Sen" userId="5af0fd2663075374" providerId="LiveId" clId="{73275830-DDF1-4512-BA94-9D9034922733}" dt="2026-03-03T15:21:37.638" v="165" actId="114"/>
          <ac:spMkLst>
            <pc:docMk/>
            <pc:sldMk cId="0" sldId="256"/>
            <ac:spMk id="85" creationId="{00000000-0000-0000-0000-000000000000}"/>
          </ac:spMkLst>
        </pc:spChg>
        <pc:spChg chg="mod">
          <ac:chgData name="PrithikaSri Sen" userId="5af0fd2663075374" providerId="LiveId" clId="{73275830-DDF1-4512-BA94-9D9034922733}" dt="2026-03-03T15:22:05.404" v="168" actId="14100"/>
          <ac:spMkLst>
            <pc:docMk/>
            <pc:sldMk cId="0" sldId="256"/>
            <ac:spMk id="86" creationId="{00000000-0000-0000-0000-000000000000}"/>
          </ac:spMkLst>
        </pc:spChg>
      </pc:sldChg>
      <pc:sldChg chg="addSp delSp modSp mod">
        <pc:chgData name="PrithikaSri Sen" userId="5af0fd2663075374" providerId="LiveId" clId="{73275830-DDF1-4512-BA94-9D9034922733}" dt="2026-03-03T15:24:19.424" v="182" actId="113"/>
        <pc:sldMkLst>
          <pc:docMk/>
          <pc:sldMk cId="0" sldId="258"/>
        </pc:sldMkLst>
        <pc:spChg chg="add mod">
          <ac:chgData name="PrithikaSri Sen" userId="5af0fd2663075374" providerId="LiveId" clId="{73275830-DDF1-4512-BA94-9D9034922733}" dt="2026-03-03T15:24:19.424" v="182" actId="113"/>
          <ac:spMkLst>
            <pc:docMk/>
            <pc:sldMk cId="0" sldId="258"/>
            <ac:spMk id="2" creationId="{BCD326D5-99F7-BFBF-93F3-F68DE9B7552E}"/>
          </ac:spMkLst>
        </pc:spChg>
        <pc:spChg chg="del">
          <ac:chgData name="PrithikaSri Sen" userId="5af0fd2663075374" providerId="LiveId" clId="{73275830-DDF1-4512-BA94-9D9034922733}" dt="2026-03-03T15:22:56.805" v="169"/>
          <ac:spMkLst>
            <pc:docMk/>
            <pc:sldMk cId="0" sldId="258"/>
            <ac:spMk id="10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2" y="1233487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91a4855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g2d91a48553b_0_0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g2d91a48553b_0_0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91a48553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g2d91a48553b_0_7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2d91a48553b_0_7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FE6442B8-F695-1A15-302A-FFCEAAF3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>
            <a:extLst>
              <a:ext uri="{FF2B5EF4-FFF2-40B4-BE49-F238E27FC236}">
                <a16:creationId xmlns:a16="http://schemas.microsoft.com/office/drawing/2014/main" id="{8F1E2595-6467-D1E5-AE8F-3ED90F7D6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1:notes">
            <a:extLst>
              <a:ext uri="{FF2B5EF4-FFF2-40B4-BE49-F238E27FC236}">
                <a16:creationId xmlns:a16="http://schemas.microsoft.com/office/drawing/2014/main" id="{8F8D9F54-8FDB-18AD-FE17-19781D771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:notes">
            <a:extLst>
              <a:ext uri="{FF2B5EF4-FFF2-40B4-BE49-F238E27FC236}">
                <a16:creationId xmlns:a16="http://schemas.microsoft.com/office/drawing/2014/main" id="{2C57411B-5EBA-4060-1C7C-46E8D29098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3397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1a48553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g2d91a48553b_0_1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g2d91a48553b_0_14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1891054E-70CA-4229-602C-75247C72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91a48553b_0_21:notes">
            <a:extLst>
              <a:ext uri="{FF2B5EF4-FFF2-40B4-BE49-F238E27FC236}">
                <a16:creationId xmlns:a16="http://schemas.microsoft.com/office/drawing/2014/main" id="{9BBE5A68-5327-0B51-38C9-0D155DC51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5" name="Google Shape;125;g2d91a48553b_0_21:notes">
            <a:extLst>
              <a:ext uri="{FF2B5EF4-FFF2-40B4-BE49-F238E27FC236}">
                <a16:creationId xmlns:a16="http://schemas.microsoft.com/office/drawing/2014/main" id="{0E0755EC-3580-130E-0215-B46FACB90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2d91a48553b_0_21:notes">
            <a:extLst>
              <a:ext uri="{FF2B5EF4-FFF2-40B4-BE49-F238E27FC236}">
                <a16:creationId xmlns:a16="http://schemas.microsoft.com/office/drawing/2014/main" id="{F37BF296-78D2-4C4A-0201-A4CE6AEE00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4838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91a48553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5" name="Google Shape;125;g2d91a48553b_0_2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2d91a48553b_0_21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 rot="5400000">
            <a:off x="3828256" y="-69056"/>
            <a:ext cx="3416300" cy="876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31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ftr" idx="11"/>
          </p:nvPr>
        </p:nvSpPr>
        <p:spPr>
          <a:xfrm rot="5400000">
            <a:off x="8960643" y="3226593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8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32" name="Google Shape;32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588"/>
                  </a:srgbClr>
                </a:gs>
                <a:gs pos="36000">
                  <a:srgbClr val="F7F7F7">
                    <a:alpha val="9411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450"/>
                  </a:srgbClr>
                </a:gs>
                <a:gs pos="36000">
                  <a:srgbClr val="F7F7F7">
                    <a:alpha val="7450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274"/>
                  </a:srgbClr>
                </a:gs>
                <a:gs pos="36000">
                  <a:srgbClr val="F7F7F7">
                    <a:alpha val="5490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333"/>
                  </a:srgbClr>
                </a:gs>
                <a:gs pos="36000">
                  <a:srgbClr val="F7F7F7">
                    <a:alpha val="6274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"/>
            <p:cNvSpPr/>
            <p:nvPr/>
          </p:nvSpPr>
          <p:spPr>
            <a:xfrm rot="-600000">
              <a:off x="8491538" y="1798139"/>
              <a:ext cx="3298825" cy="439807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"/>
            <p:cNvSpPr/>
            <p:nvPr/>
          </p:nvSpPr>
          <p:spPr>
            <a:xfrm>
              <a:off x="458788" y="1866411"/>
              <a:ext cx="11277600" cy="4534619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"/>
            <p:cNvSpPr/>
            <p:nvPr/>
          </p:nvSpPr>
          <p:spPr>
            <a:xfrm>
              <a:off x="0" y="804"/>
              <a:ext cx="12192000" cy="6857499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4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10650537" y="63944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528637" y="6391275"/>
            <a:ext cx="38592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31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91a48553b_0_0"/>
          <p:cNvSpPr txBox="1">
            <a:spLocks noGrp="1"/>
          </p:cNvSpPr>
          <p:nvPr>
            <p:ph type="ctrTitle"/>
          </p:nvPr>
        </p:nvSpPr>
        <p:spPr>
          <a:xfrm>
            <a:off x="1924207" y="2038174"/>
            <a:ext cx="8172000" cy="114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IN" sz="3600" b="1" i="1" dirty="0"/>
              <a:t>Real-Time Posture Correction System</a:t>
            </a:r>
            <a:endParaRPr sz="3600" b="1" i="1" dirty="0"/>
          </a:p>
        </p:txBody>
      </p:sp>
      <p:sp>
        <p:nvSpPr>
          <p:cNvPr id="86" name="Google Shape;86;g2d91a48553b_0_0"/>
          <p:cNvSpPr txBox="1">
            <a:spLocks noGrp="1"/>
          </p:cNvSpPr>
          <p:nvPr>
            <p:ph type="subTitle" idx="1"/>
          </p:nvPr>
        </p:nvSpPr>
        <p:spPr>
          <a:xfrm>
            <a:off x="7548056" y="3784034"/>
            <a:ext cx="3185047" cy="184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</a:pPr>
            <a:r>
              <a:rPr lang="en-US" sz="1800" b="1" dirty="0">
                <a:solidFill>
                  <a:schemeClr val="bg1"/>
                </a:solidFill>
              </a:rPr>
              <a:t>Moni Kumari  1CR24CD025</a:t>
            </a:r>
            <a:endParaRPr sz="1800" b="1" dirty="0">
              <a:solidFill>
                <a:schemeClr val="bg1"/>
              </a:solidFill>
            </a:endParaRPr>
          </a:p>
          <a:p>
            <a:pPr marL="0" lvl="0" indent="0"/>
            <a:r>
              <a:rPr lang="en-US" sz="1800" b="1" dirty="0">
                <a:solidFill>
                  <a:schemeClr val="bg1"/>
                </a:solidFill>
              </a:rPr>
              <a:t>S </a:t>
            </a:r>
            <a:r>
              <a:rPr lang="en-US" sz="1800" b="1" dirty="0" err="1">
                <a:solidFill>
                  <a:schemeClr val="bg1"/>
                </a:solidFill>
              </a:rPr>
              <a:t>Prithikasri</a:t>
            </a:r>
            <a:r>
              <a:rPr lang="en-US" sz="1800" b="1" dirty="0">
                <a:solidFill>
                  <a:schemeClr val="bg1"/>
                </a:solidFill>
              </a:rPr>
              <a:t>     1CR24CD041</a:t>
            </a:r>
          </a:p>
          <a:p>
            <a:pPr marL="0" lvl="0" indent="0"/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87" name="Google Shape;87;g2d91a48553b_0_0" descr="C:\Users\Mahesh Kumar Jha\Downloads\CMRIT NEW LOGO-01.png"/>
          <p:cNvPicPr preferRelativeResize="0"/>
          <p:nvPr/>
        </p:nvPicPr>
        <p:blipFill rotWithShape="1">
          <a:blip r:embed="rId3">
            <a:alphaModFix/>
          </a:blip>
          <a:srcRect l="8505" t="4689" r="7034"/>
          <a:stretch/>
        </p:blipFill>
        <p:spPr>
          <a:xfrm>
            <a:off x="692972" y="416240"/>
            <a:ext cx="1574800" cy="16349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7;p4">
            <a:extLst>
              <a:ext uri="{FF2B5EF4-FFF2-40B4-BE49-F238E27FC236}">
                <a16:creationId xmlns:a16="http://schemas.microsoft.com/office/drawing/2014/main" id="{318F4F8F-3B7B-3CE3-E7B9-F48C7543E625}"/>
              </a:ext>
            </a:extLst>
          </p:cNvPr>
          <p:cNvSpPr txBox="1"/>
          <p:nvPr/>
        </p:nvSpPr>
        <p:spPr>
          <a:xfrm>
            <a:off x="1649632" y="3429000"/>
            <a:ext cx="4781550" cy="4000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2000" b="1" dirty="0">
                <a:solidFill>
                  <a:schemeClr val="accent1"/>
                </a:solidFill>
                <a:latin typeface="Century Gothic"/>
                <a:sym typeface="Century Gothic"/>
              </a:rPr>
              <a:t>Guide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4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72DEF-400A-6E2C-7D2F-BC3072A41AA6}"/>
              </a:ext>
            </a:extLst>
          </p:cNvPr>
          <p:cNvSpPr txBox="1"/>
          <p:nvPr/>
        </p:nvSpPr>
        <p:spPr>
          <a:xfrm>
            <a:off x="2420258" y="1233721"/>
            <a:ext cx="9971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DEPARTMENT OF ARTIFICIAL INTELLIGENCE AND DATA SCIENCE</a:t>
            </a:r>
            <a:endParaRPr lang="en-IN" sz="20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Google Shape;97;p4">
            <a:extLst>
              <a:ext uri="{FF2B5EF4-FFF2-40B4-BE49-F238E27FC236}">
                <a16:creationId xmlns:a16="http://schemas.microsoft.com/office/drawing/2014/main" id="{3DE3FA43-EE25-F725-EE33-1625A46A8AC9}"/>
              </a:ext>
            </a:extLst>
          </p:cNvPr>
          <p:cNvSpPr txBox="1"/>
          <p:nvPr/>
        </p:nvSpPr>
        <p:spPr>
          <a:xfrm>
            <a:off x="7548056" y="3414147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</a:t>
            </a:r>
            <a:endParaRPr sz="1400" b="1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7;p4">
            <a:extLst>
              <a:ext uri="{FF2B5EF4-FFF2-40B4-BE49-F238E27FC236}">
                <a16:creationId xmlns:a16="http://schemas.microsoft.com/office/drawing/2014/main" id="{14F5FCE0-AE48-97E6-09A9-2D485A2DD668}"/>
              </a:ext>
            </a:extLst>
          </p:cNvPr>
          <p:cNvSpPr txBox="1"/>
          <p:nvPr/>
        </p:nvSpPr>
        <p:spPr>
          <a:xfrm>
            <a:off x="1649632" y="4439572"/>
            <a:ext cx="4781550" cy="3698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1800" b="1" dirty="0">
                <a:solidFill>
                  <a:schemeClr val="accent1"/>
                </a:solidFill>
                <a:latin typeface="Century Gothic"/>
                <a:sym typeface="Century Gothic"/>
              </a:rPr>
              <a:t>Date: </a:t>
            </a:r>
            <a:r>
              <a:rPr lang="en-US" sz="1800" b="1" dirty="0">
                <a:solidFill>
                  <a:schemeClr val="bg1"/>
                </a:solidFill>
                <a:latin typeface="Century Gothic"/>
                <a:sym typeface="Century Gothic"/>
              </a:rPr>
              <a:t>05</a:t>
            </a:r>
            <a:r>
              <a:rPr lang="en-US" sz="1800" b="1" baseline="30000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lang="en-US" sz="1800" b="1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March 2026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4">
            <a:extLst>
              <a:ext uri="{FF2B5EF4-FFF2-40B4-BE49-F238E27FC236}">
                <a16:creationId xmlns:a16="http://schemas.microsoft.com/office/drawing/2014/main" id="{B9095491-88EC-396D-AECF-05D950776443}"/>
              </a:ext>
            </a:extLst>
          </p:cNvPr>
          <p:cNvSpPr txBox="1"/>
          <p:nvPr/>
        </p:nvSpPr>
        <p:spPr>
          <a:xfrm>
            <a:off x="1649632" y="3881863"/>
            <a:ext cx="4781550" cy="4000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2000" b="1" dirty="0">
                <a:solidFill>
                  <a:schemeClr val="accent1"/>
                </a:solidFill>
                <a:latin typeface="Century Gothic"/>
                <a:sym typeface="Century Gothic"/>
              </a:rPr>
              <a:t>Review</a:t>
            </a:r>
            <a:r>
              <a:rPr lang="en-US" sz="1800" b="1" dirty="0">
                <a:solidFill>
                  <a:schemeClr val="accent1"/>
                </a:solidFill>
                <a:latin typeface="Century Gothic"/>
                <a:sym typeface="Century Gothic"/>
              </a:rPr>
              <a:t>: </a:t>
            </a:r>
            <a:r>
              <a:rPr lang="en-US" sz="1800" b="1" dirty="0">
                <a:solidFill>
                  <a:schemeClr val="bg1"/>
                </a:solidFill>
                <a:latin typeface="Century Gothic"/>
                <a:sym typeface="Century Gothic"/>
              </a:rPr>
              <a:t>0</a:t>
            </a:r>
            <a:endParaRPr sz="14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840862" y="2541715"/>
            <a:ext cx="1065251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</a:pPr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18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Literature Review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/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Feasibility Analysis and  Expected Outcomes</a:t>
            </a:r>
          </a:p>
          <a:p>
            <a:pPr marL="342900" lvl="0" indent="-34290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and Tool Identification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/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Initial System Architecture or Flowchart</a:t>
            </a:r>
          </a:p>
          <a:p>
            <a:pPr marL="342900" indent="-34290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 and </a:t>
            </a:r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Timeline</a:t>
            </a:r>
          </a:p>
          <a:p>
            <a:pPr marL="342900" indent="-34290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Conclusion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/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514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sz="1800" dirty="0"/>
          </a:p>
          <a:p>
            <a:pPr marL="342900" marR="0" lvl="0" indent="-2514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4" descr="C:\Users\Mahesh Kumar Jha\Downloads\CMRIT NEW LOGO-01.png"/>
          <p:cNvPicPr preferRelativeResize="0"/>
          <p:nvPr/>
        </p:nvPicPr>
        <p:blipFill rotWithShape="1">
          <a:blip r:embed="rId3">
            <a:alphaModFix/>
          </a:blip>
          <a:srcRect l="10241" t="16174" r="4216"/>
          <a:stretch/>
        </p:blipFill>
        <p:spPr>
          <a:xfrm>
            <a:off x="530225" y="606425"/>
            <a:ext cx="1744662" cy="12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5204387" y="6413756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Department of AI &amp; 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title"/>
          </p:nvPr>
        </p:nvSpPr>
        <p:spPr>
          <a:xfrm>
            <a:off x="3713162" y="863600"/>
            <a:ext cx="520065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b="1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91a48553b_0_7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Problem Statement</a:t>
            </a:r>
            <a:endParaRPr b="1" dirty="0"/>
          </a:p>
        </p:txBody>
      </p:sp>
      <p:sp>
        <p:nvSpPr>
          <p:cNvPr id="106" name="Google Shape;106;g2d91a48553b_0_7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D326D5-99F7-BFBF-93F3-F68DE9B75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2333685"/>
            <a:ext cx="11201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spend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long hours studying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often late into the night, chasing their dreams and academic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these extended sessions, they unknowingly develop poor posture habits like slouching or bending too close to screens.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time, this leads to back pain, neck strain, headaches, fatigue, and reduced concentration.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ignore early signs of discomfort, thinking it is “normal,” until it becomes a serious health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posture not only affects physical health but also impacts confidence, energy levels, and overall well-being.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gentle, supportive solution that helps students protect their health while they focus on building their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>
            <a:spLocks noGrp="1"/>
          </p:cNvSpPr>
          <p:nvPr>
            <p:ph type="title"/>
          </p:nvPr>
        </p:nvSpPr>
        <p:spPr>
          <a:xfrm>
            <a:off x="1087543" y="674188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1000"/>
              </a:spcBef>
              <a:buClr>
                <a:schemeClr val="accent1"/>
              </a:buClr>
              <a:buSzPts val="144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Literature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body" idx="1"/>
          </p:nvPr>
        </p:nvSpPr>
        <p:spPr>
          <a:xfrm>
            <a:off x="776748" y="2052586"/>
            <a:ext cx="10186219" cy="451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lv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" name="Google Shape;236;p5">
            <a:extLst>
              <a:ext uri="{FF2B5EF4-FFF2-40B4-BE49-F238E27FC236}">
                <a16:creationId xmlns:a16="http://schemas.microsoft.com/office/drawing/2014/main" id="{C91D5D5F-8B28-DB4D-BB97-05C9CCB3D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60782"/>
              </p:ext>
            </p:extLst>
          </p:nvPr>
        </p:nvGraphicFramePr>
        <p:xfrm>
          <a:off x="1087543" y="2052586"/>
          <a:ext cx="10327710" cy="420730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9023">
                  <a:extLst>
                    <a:ext uri="{9D8B030D-6E8A-4147-A177-3AD203B41FA5}">
                      <a16:colId xmlns:a16="http://schemas.microsoft.com/office/drawing/2014/main" val="1892364958"/>
                    </a:ext>
                  </a:extLst>
                </a:gridCol>
                <a:gridCol w="303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292">
                  <a:extLst>
                    <a:ext uri="{9D8B030D-6E8A-4147-A177-3AD203B41FA5}">
                      <a16:colId xmlns:a16="http://schemas.microsoft.com/office/drawing/2014/main" val="2249536290"/>
                    </a:ext>
                  </a:extLst>
                </a:gridCol>
                <a:gridCol w="2250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983">
                  <a:extLst>
                    <a:ext uri="{9D8B030D-6E8A-4147-A177-3AD203B41FA5}">
                      <a16:colId xmlns:a16="http://schemas.microsoft.com/office/drawing/2014/main" val="1695245649"/>
                    </a:ext>
                  </a:extLst>
                </a:gridCol>
              </a:tblGrid>
              <a:tr h="3882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lt1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SL NO</a:t>
                      </a:r>
                      <a:endParaRPr sz="1800" b="1" i="0" u="none" strike="noStrike" cap="none" dirty="0">
                        <a:solidFill>
                          <a:schemeClr val="lt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Details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lt1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Dataset</a:t>
                      </a:r>
                      <a:endParaRPr sz="1800" b="1" i="0" u="none" strike="noStrike" cap="none" dirty="0">
                        <a:solidFill>
                          <a:schemeClr val="lt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strike="noStrike" cap="none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Used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lt1"/>
                          </a:solidFill>
                          <a:latin typeface="Times New Roman"/>
                          <a:cs typeface="Times New Roman"/>
                          <a:sym typeface="Arial"/>
                        </a:rPr>
                        <a:t>Gaps identified</a:t>
                      </a:r>
                      <a:endParaRPr sz="1800" b="1" i="0" u="none" strike="noStrike" cap="none" dirty="0">
                        <a:solidFill>
                          <a:schemeClr val="lt1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Trang, H. P., Tran, V. C., Nguyen, N. T., &amp; Hwang, D. (2020). “Improving the performance of sentiment analysis of tweets containing fuzzy sentiment using the feature ensemble model” </a:t>
                      </a: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8(1), 14630-14641.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doi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10.1109/ACCESS.2019.2963702.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36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E960BAD-6872-99F2-8034-FDF08DDC2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>
            <a:extLst>
              <a:ext uri="{FF2B5EF4-FFF2-40B4-BE49-F238E27FC236}">
                <a16:creationId xmlns:a16="http://schemas.microsoft.com/office/drawing/2014/main" id="{FA7241EA-E24C-FD47-55CF-2B96B2727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699" y="992801"/>
            <a:ext cx="9807267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Feasibility Analysis and  Expected Outcomes</a:t>
            </a:r>
          </a:p>
        </p:txBody>
      </p:sp>
      <p:sp>
        <p:nvSpPr>
          <p:cNvPr id="113" name="Google Shape;113;p1">
            <a:extLst>
              <a:ext uri="{FF2B5EF4-FFF2-40B4-BE49-F238E27FC236}">
                <a16:creationId xmlns:a16="http://schemas.microsoft.com/office/drawing/2014/main" id="{EE8FD518-C175-31FA-F1DF-C56130E98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6748" y="2052586"/>
            <a:ext cx="10186219" cy="451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endParaRPr lang="en-IN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4" name="Google Shape;114;p1">
            <a:extLst>
              <a:ext uri="{FF2B5EF4-FFF2-40B4-BE49-F238E27FC236}">
                <a16:creationId xmlns:a16="http://schemas.microsoft.com/office/drawing/2014/main" id="{AED77D68-ACEE-DD95-F395-323A7E861D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791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91a48553b_0_14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and Tool Identification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g2d91a48553b_0_14"/>
          <p:cNvSpPr txBox="1">
            <a:spLocks noGrp="1"/>
          </p:cNvSpPr>
          <p:nvPr>
            <p:ph type="body" idx="1"/>
          </p:nvPr>
        </p:nvSpPr>
        <p:spPr>
          <a:xfrm>
            <a:off x="784327" y="2123023"/>
            <a:ext cx="1062334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FFFF"/>
              </a:buClr>
              <a:buSzPts val="4000"/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g2d91a48553b_0_14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1E3FE1B2-3EDE-E987-8DE4-32EBC9E5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91a48553b_0_21">
            <a:extLst>
              <a:ext uri="{FF2B5EF4-FFF2-40B4-BE49-F238E27FC236}">
                <a16:creationId xmlns:a16="http://schemas.microsoft.com/office/drawing/2014/main" id="{D7D305B6-5DB5-303C-3EB4-EF994C758B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Initial System Architecture or Flowchart</a:t>
            </a:r>
            <a:b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dirty="0"/>
              <a:t> </a:t>
            </a:r>
            <a:endParaRPr dirty="0"/>
          </a:p>
        </p:txBody>
      </p:sp>
      <p:sp>
        <p:nvSpPr>
          <p:cNvPr id="129" name="Google Shape;129;g2d91a48553b_0_21">
            <a:extLst>
              <a:ext uri="{FF2B5EF4-FFF2-40B4-BE49-F238E27FC236}">
                <a16:creationId xmlns:a16="http://schemas.microsoft.com/office/drawing/2014/main" id="{C8D77F40-F54C-0215-0738-45C6DD1E06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9894" y="2243189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br>
              <a:rPr lang="en-US" sz="2400" dirty="0"/>
            </a:b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57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sp>
        <p:nvSpPr>
          <p:cNvPr id="130" name="Google Shape;130;g2d91a48553b_0_21">
            <a:extLst>
              <a:ext uri="{FF2B5EF4-FFF2-40B4-BE49-F238E27FC236}">
                <a16:creationId xmlns:a16="http://schemas.microsoft.com/office/drawing/2014/main" id="{F4D4D683-FA14-201F-3F4F-089C6E5E1B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736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91a48553b_0_21"/>
          <p:cNvSpPr txBox="1">
            <a:spLocks noGrp="1"/>
          </p:cNvSpPr>
          <p:nvPr>
            <p:ph type="title"/>
          </p:nvPr>
        </p:nvSpPr>
        <p:spPr>
          <a:xfrm>
            <a:off x="1368099" y="1246455"/>
            <a:ext cx="10751164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 and </a:t>
            </a:r>
            <a:r>
              <a:rPr lang="en-US" sz="3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Timeline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ym typeface="Times New Roman"/>
              </a:rPr>
            </a:br>
            <a:r>
              <a:rPr lang="en-US" dirty="0"/>
              <a:t> </a:t>
            </a:r>
            <a:endParaRPr dirty="0"/>
          </a:p>
        </p:txBody>
      </p:sp>
      <p:sp>
        <p:nvSpPr>
          <p:cNvPr id="129" name="Google Shape;129;g2d91a48553b_0_21"/>
          <p:cNvSpPr txBox="1">
            <a:spLocks noGrp="1"/>
          </p:cNvSpPr>
          <p:nvPr>
            <p:ph type="body" idx="1"/>
          </p:nvPr>
        </p:nvSpPr>
        <p:spPr>
          <a:xfrm>
            <a:off x="840739" y="1771575"/>
            <a:ext cx="9673013" cy="449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 indent="-457200"/>
            <a:endParaRPr lang="en-US" sz="2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37160" indent="0">
              <a:buNone/>
            </a:pPr>
            <a:endParaRPr lang="en-US" sz="2000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457200" lvl="0" indent="-3657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sp>
        <p:nvSpPr>
          <p:cNvPr id="130" name="Google Shape;130;g2d91a48553b_0_21"/>
          <p:cNvSpPr txBox="1">
            <a:spLocks noGrp="1"/>
          </p:cNvSpPr>
          <p:nvPr>
            <p:ph type="sldNum" idx="12"/>
          </p:nvPr>
        </p:nvSpPr>
        <p:spPr>
          <a:xfrm>
            <a:off x="10352087" y="295275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2" name="Google Shape;205;g2d91a48553b_0_62">
            <a:extLst>
              <a:ext uri="{FF2B5EF4-FFF2-40B4-BE49-F238E27FC236}">
                <a16:creationId xmlns:a16="http://schemas.microsoft.com/office/drawing/2014/main" id="{E36E0A52-4947-096B-9C1D-2C9C71591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5656387"/>
              </p:ext>
            </p:extLst>
          </p:nvPr>
        </p:nvGraphicFramePr>
        <p:xfrm>
          <a:off x="1209041" y="2479575"/>
          <a:ext cx="9304711" cy="3745911"/>
        </p:xfrm>
        <a:graphic>
          <a:graphicData uri="http://schemas.openxmlformats.org/drawingml/2006/table">
            <a:tbl>
              <a:tblPr firstRow="1" bandRow="1">
                <a:noFill/>
                <a:tableStyleId>{3D1FF23F-5159-4EF7-9459-074EA359CEDB}</a:tableStyleId>
              </a:tblPr>
              <a:tblGrid>
                <a:gridCol w="2895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792">
                  <a:extLst>
                    <a:ext uri="{9D8B030D-6E8A-4147-A177-3AD203B41FA5}">
                      <a16:colId xmlns:a16="http://schemas.microsoft.com/office/drawing/2014/main" val="1736198357"/>
                    </a:ext>
                  </a:extLst>
                </a:gridCol>
              </a:tblGrid>
              <a:tr h="55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Distribution </a:t>
                      </a: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Duration </a:t>
                      </a: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i="0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Planned Activities</a:t>
                      </a:r>
                      <a:endParaRPr sz="2200" b="1" i="0" u="none" strike="noStrike" cap="none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n>
                          <a:solidFill>
                            <a:schemeClr val="accent1"/>
                          </a:solidFill>
                        </a:ln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956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0" marR="0" lvl="0" indent="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 anchor="ctr"/>
                </a:tc>
                <a:extLst>
                  <a:ext uri="{0D108BD9-81ED-4DB2-BD59-A6C34878D82A}">
                    <a16:rowId xmlns:a16="http://schemas.microsoft.com/office/drawing/2014/main" val="403173345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945" marR="32385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32385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39370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tc>
                  <a:txBody>
                    <a:bodyPr/>
                    <a:lstStyle/>
                    <a:p>
                      <a:pPr marL="67310" marR="23050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 txBox="1"/>
          <p:nvPr/>
        </p:nvSpPr>
        <p:spPr>
          <a:xfrm>
            <a:off x="10282237" y="6256337"/>
            <a:ext cx="12192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10352087" y="295275"/>
            <a:ext cx="83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5" descr="C:\Users\Mahesh Kumar Jha\Downloads\CMRIT NEW LOGO-01.png"/>
          <p:cNvPicPr preferRelativeResize="0"/>
          <p:nvPr/>
        </p:nvPicPr>
        <p:blipFill rotWithShape="1">
          <a:blip r:embed="rId3">
            <a:alphaModFix/>
          </a:blip>
          <a:srcRect l="10241" t="16174" r="4216"/>
          <a:stretch/>
        </p:blipFill>
        <p:spPr>
          <a:xfrm>
            <a:off x="530225" y="606425"/>
            <a:ext cx="1744662" cy="12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4251325" y="1106487"/>
            <a:ext cx="2811462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4443412" y="6280150"/>
            <a:ext cx="47815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Department of AI &amp; 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1D9AB-2E73-D82C-C806-639B3372B986}"/>
              </a:ext>
            </a:extLst>
          </p:cNvPr>
          <p:cNvSpPr txBox="1"/>
          <p:nvPr/>
        </p:nvSpPr>
        <p:spPr>
          <a:xfrm>
            <a:off x="2274887" y="1121766"/>
            <a:ext cx="7051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3F8F3-58E1-235C-E915-C80FAA1B7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312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Baskerville Old Face</vt:lpstr>
      <vt:lpstr>Noto Sans Symbols</vt:lpstr>
      <vt:lpstr>1_Ion Boardroom</vt:lpstr>
      <vt:lpstr>Ion Boardroom</vt:lpstr>
      <vt:lpstr>Real-Time Posture Correction System</vt:lpstr>
      <vt:lpstr>Contents</vt:lpstr>
      <vt:lpstr>Problem Statement</vt:lpstr>
      <vt:lpstr>Literature Review</vt:lpstr>
      <vt:lpstr>Feasibility Analysis and  Expected Outcomes</vt:lpstr>
      <vt:lpstr>Technology and Tool Identification</vt:lpstr>
      <vt:lpstr>Initial System Architecture or Flowchart  </vt:lpstr>
      <vt:lpstr>Task distribution and Timeline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User</dc:creator>
  <cp:lastModifiedBy>PrithikaSri Sen</cp:lastModifiedBy>
  <cp:revision>35</cp:revision>
  <dcterms:created xsi:type="dcterms:W3CDTF">2017-08-03T09:47:51Z</dcterms:created>
  <dcterms:modified xsi:type="dcterms:W3CDTF">2026-03-03T15:24:51Z</dcterms:modified>
</cp:coreProperties>
</file>